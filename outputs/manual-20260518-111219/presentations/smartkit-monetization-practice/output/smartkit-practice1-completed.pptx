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0d744de2d24bc2" /><Relationship Type="http://schemas.openxmlformats.org/officeDocument/2006/relationships/extended-properties" Target="/docProps/app.xml" Id="R08a9723ce3ea4819" /><Relationship Type="http://schemas.openxmlformats.org/officeDocument/2006/relationships/officeDocument" Target="/ppt/presentation.xml" Id="R12ca5f76abf544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1895293f7a4004"/>
  </p:sldMasterIdLst>
  <p:notesMasterIdLst>
    <p:notesMasterId xmlns:r="http://schemas.openxmlformats.org/officeDocument/2006/relationships" r:id="R52f378699a4e4dda"/>
  </p:notesMasterIdLst>
  <p:sldIdLst>
    <p:sldId xmlns:r="http://schemas.openxmlformats.org/officeDocument/2006/relationships" id="256" r:id="Re21e1e5c036044be"/>
    <p:sldId xmlns:r="http://schemas.openxmlformats.org/officeDocument/2006/relationships" id="257" r:id="R08d77c98714144f2"/>
    <p:sldId xmlns:r="http://schemas.openxmlformats.org/officeDocument/2006/relationships" id="258" r:id="Rb5ea7f278bc74acd"/>
    <p:sldId xmlns:r="http://schemas.openxmlformats.org/officeDocument/2006/relationships" id="259" r:id="R6b4766f8e1034bca"/>
    <p:sldId xmlns:r="http://schemas.openxmlformats.org/officeDocument/2006/relationships" id="260" r:id="Rec36d6b40dfc4d13"/>
    <p:sldId xmlns:r="http://schemas.openxmlformats.org/officeDocument/2006/relationships" id="261" r:id="R86741127c92e4128"/>
    <p:sldId xmlns:r="http://schemas.openxmlformats.org/officeDocument/2006/relationships" id="262" r:id="R485df4ca4c4d4ea8"/>
    <p:sldId xmlns:r="http://schemas.openxmlformats.org/officeDocument/2006/relationships" id="263" r:id="R39cf93234d234596"/>
    <p:sldId xmlns:r="http://schemas.openxmlformats.org/officeDocument/2006/relationships" id="264" r:id="R84f68c2491164c9b"/>
    <p:sldId xmlns:r="http://schemas.openxmlformats.org/officeDocument/2006/relationships" id="265" r:id="R6f54868a28584e08"/>
    <p:sldId xmlns:r="http://schemas.openxmlformats.org/officeDocument/2006/relationships" id="266" r:id="R16f976caab6d4c8b"/>
    <p:sldId xmlns:r="http://schemas.openxmlformats.org/officeDocument/2006/relationships" id="267" r:id="R21818f79b24d4e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895293f7a4004" /><Relationship Type="http://schemas.openxmlformats.org/officeDocument/2006/relationships/theme" Target="/ppt/theme/theme1.xml" Id="Rac1cf4f8d8044c2a" /><Relationship Type="http://schemas.openxmlformats.org/officeDocument/2006/relationships/notesMaster" Target="/ppt/notesMasters/notesMaster1.xml" Id="R52f378699a4e4dda" /><Relationship Type="http://schemas.openxmlformats.org/officeDocument/2006/relationships/presProps" Target="/ppt/presProps.xml" Id="R210f2555630247bc" /><Relationship Type="http://schemas.openxmlformats.org/officeDocument/2006/relationships/viewProps" Target="/ppt/viewProps.xml" Id="R6852854911a44c62" /><Relationship Type="http://schemas.openxmlformats.org/officeDocument/2006/relationships/tableStyles" Target="/ppt/tableStyles.xml" Id="R1debe5c5ae4f4342" /><Relationship Type="http://schemas.openxmlformats.org/officeDocument/2006/relationships/slide" Target="/ppt/slides/slide1.xml" Id="Re21e1e5c036044be" /><Relationship Type="http://schemas.openxmlformats.org/officeDocument/2006/relationships/slide" Target="/ppt/slides/slide2.xml" Id="R08d77c98714144f2" /><Relationship Type="http://schemas.openxmlformats.org/officeDocument/2006/relationships/slide" Target="/ppt/slides/slide3.xml" Id="Rb5ea7f278bc74acd" /><Relationship Type="http://schemas.openxmlformats.org/officeDocument/2006/relationships/slide" Target="/ppt/slides/slide4.xml" Id="R6b4766f8e1034bca" /><Relationship Type="http://schemas.openxmlformats.org/officeDocument/2006/relationships/slide" Target="/ppt/slides/slide5.xml" Id="Rec36d6b40dfc4d13" /><Relationship Type="http://schemas.openxmlformats.org/officeDocument/2006/relationships/slide" Target="/ppt/slides/slide6.xml" Id="R86741127c92e4128" /><Relationship Type="http://schemas.openxmlformats.org/officeDocument/2006/relationships/slide" Target="/ppt/slides/slide7.xml" Id="R485df4ca4c4d4ea8" /><Relationship Type="http://schemas.openxmlformats.org/officeDocument/2006/relationships/slide" Target="/ppt/slides/slide8.xml" Id="R39cf93234d234596" /><Relationship Type="http://schemas.openxmlformats.org/officeDocument/2006/relationships/slide" Target="/ppt/slides/slide9.xml" Id="R84f68c2491164c9b" /><Relationship Type="http://schemas.openxmlformats.org/officeDocument/2006/relationships/slide" Target="/ppt/slides/slide10.xml" Id="R6f54868a28584e08" /><Relationship Type="http://schemas.openxmlformats.org/officeDocument/2006/relationships/slide" Target="/ppt/slides/slide11.xml" Id="R16f976caab6d4c8b" /><Relationship Type="http://schemas.openxmlformats.org/officeDocument/2006/relationships/slide" Target="/ppt/slides/slide12.xml" Id="R21818f79b24d4e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d864f6602b348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83885b779e4370" /><Relationship Type="http://schemas.openxmlformats.org/officeDocument/2006/relationships/notesMaster" Target="/ppt/notesMasters/notesMaster1.xml" Id="Raa1535ceb06a47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4b36a5692d4912" /><Relationship Type="http://schemas.openxmlformats.org/officeDocument/2006/relationships/notesMaster" Target="/ppt/notesMasters/notesMaster1.xml" Id="Ra7a2c22c91da4f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e06ddc1d3341f9" /><Relationship Type="http://schemas.openxmlformats.org/officeDocument/2006/relationships/notesMaster" Target="/ppt/notesMasters/notesMaster1.xml" Id="R60dc0d643f1545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7359be8d514985" /><Relationship Type="http://schemas.openxmlformats.org/officeDocument/2006/relationships/notesMaster" Target="/ppt/notesMasters/notesMaster1.xml" Id="R75fc8b28fd8a42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e7ed9530db44df" /><Relationship Type="http://schemas.openxmlformats.org/officeDocument/2006/relationships/notesMaster" Target="/ppt/notesMasters/notesMaster1.xml" Id="Rd5ff7c9732cd41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0c0194715f4084" /><Relationship Type="http://schemas.openxmlformats.org/officeDocument/2006/relationships/notesMaster" Target="/ppt/notesMasters/notesMaster1.xml" Id="R8a825a1d5dae41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128e3f95f64a60" /><Relationship Type="http://schemas.openxmlformats.org/officeDocument/2006/relationships/notesMaster" Target="/ppt/notesMasters/notesMaster1.xml" Id="R7683fcadb9ab4f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ac4de397844726" /><Relationship Type="http://schemas.openxmlformats.org/officeDocument/2006/relationships/notesMaster" Target="/ppt/notesMasters/notesMaster1.xml" Id="R542418a3ca1d45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cd3c7f517848d4" /><Relationship Type="http://schemas.openxmlformats.org/officeDocument/2006/relationships/notesMaster" Target="/ppt/notesMasters/notesMaster1.xml" Id="Ra21897b320bb4c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22828034e642df" /><Relationship Type="http://schemas.openxmlformats.org/officeDocument/2006/relationships/notesMaster" Target="/ppt/notesMasters/notesMaster1.xml" Id="R31b3e81ccde646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6c74f4aba34eed" /><Relationship Type="http://schemas.openxmlformats.org/officeDocument/2006/relationships/notesMaster" Target="/ppt/notesMasters/notesMaster1.xml" Id="R21b389aa1f7a4d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68f9bef9154e5d" /><Relationship Type="http://schemas.openxmlformats.org/officeDocument/2006/relationships/notesMaster" Target="/ppt/notesMasters/notesMaster1.xml" Id="R0e1705aa8e464a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1f4d0180324f2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c233ce55be643d9" /><Relationship Type="http://schemas.openxmlformats.org/officeDocument/2006/relationships/slideLayout" Target="/ppt/slideLayouts/slideLayout2.xml" Id="R48c5f8ab813743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c5f8ab813743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e781e3a4a447e3" /><Relationship Type="http://schemas.openxmlformats.org/officeDocument/2006/relationships/notesSlide" Target="/ppt/notesSlides/notesSlide1.xml" Id="R11f0d03353b242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a3952fd42546a4" /><Relationship Type="http://schemas.openxmlformats.org/officeDocument/2006/relationships/notesSlide" Target="/ppt/notesSlides/notesSlide2.xml" Id="R32abc773b48447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2f2f90cd104266" /><Relationship Type="http://schemas.openxmlformats.org/officeDocument/2006/relationships/notesSlide" Target="/ppt/notesSlides/notesSlide3.xml" Id="Re75151be8dfa47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9b7be41e3a4294" /><Relationship Type="http://schemas.openxmlformats.org/officeDocument/2006/relationships/notesSlide" Target="/ppt/notesSlides/notesSlide4.xml" Id="R176e285ae49441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b1732b7e974fb8" /><Relationship Type="http://schemas.openxmlformats.org/officeDocument/2006/relationships/notesSlide" Target="/ppt/notesSlides/notesSlide5.xml" Id="Rf26047e4febd43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d89d94d4d447b7" /><Relationship Type="http://schemas.openxmlformats.org/officeDocument/2006/relationships/notesSlide" Target="/ppt/notesSlides/notesSlide6.xml" Id="R1b97f9f01a8e47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125732f8ad44c6" /><Relationship Type="http://schemas.openxmlformats.org/officeDocument/2006/relationships/notesSlide" Target="/ppt/notesSlides/notesSlide7.xml" Id="Rc81c243c34554c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49575d3ca34777" /><Relationship Type="http://schemas.openxmlformats.org/officeDocument/2006/relationships/notesSlide" Target="/ppt/notesSlides/notesSlide8.xml" Id="Rd6e26ec928464f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fa9ccf5bae430f" /><Relationship Type="http://schemas.openxmlformats.org/officeDocument/2006/relationships/notesSlide" Target="/ppt/notesSlides/notesSlide9.xml" Id="Rc8f0425f36364a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f64ec4e5364d31" /><Relationship Type="http://schemas.openxmlformats.org/officeDocument/2006/relationships/notesSlide" Target="/ppt/notesSlides/notesSlide10.xml" Id="R0d408ff7b3594b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b97e03b69c4d69" /><Relationship Type="http://schemas.openxmlformats.org/officeDocument/2006/relationships/notesSlide" Target="/ppt/notesSlides/notesSlide11.xml" Id="R9fa3c3cd896c4d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d4f5d972ea4a34" /><Relationship Type="http://schemas.openxmlformats.org/officeDocument/2006/relationships/notesSlide" Target="/ppt/notesSlides/notesSlide12.xml" Id="R4a95e8e4a1d245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13EB03-5C0A-4BC4-8B64-B968FAB9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DFE47-9EAB-4ECD-B85E-8893B712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E8B9E-9E17-4540-8DB0-A1F4B585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2950"/>
            <a:ext cx="857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pPr>
            <a:r>
              <a:rPr sz="8850" b="1">
                <a:solidFill>
                  <a:srgbClr val="FF7A1A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424BE-6862-48EA-90BD-0312D596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223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8E9D3-EBB7-4DF5-BBE6-0F1421BA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1025"/>
            <a:ext cx="20097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Практика 1 · 180 минут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1DBE7-B282-4DC7-9EF9-7514AC3C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SmartKit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сессия брейнсторминга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FDA04-0DC4-4D27-A82E-A16D46E5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Готовый поэтапный разбор: боли, SCAMPER, JTBD, фильтрация идей и pitch для защиты стартапа.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BAE1A-C38C-4B26-A7B8-7FDF0F91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0168D-4B95-4BB5-B654-FBEDD78E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DEE09-E233-462B-AB6B-7610F104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0"/>
            <a:ext cx="1809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DDE6F3"/>
                </a:solidFill>
                <a:latin typeface="Arial"/>
                <a:ea typeface="Arial"/>
                <a:cs typeface="Arial"/>
              </a:rPr>
              <a:t>этапов практики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DBEF0-DC02-4C4C-B819-25E13E65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2A5C2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92A5C2"/>
                </a:solidFill>
                <a:latin typeface="Arial"/>
                <a:ea typeface="Arial"/>
                <a:cs typeface="Arial"/>
              </a:rPr>
              <a:t>каждый заполнен под SmartKit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42DF9-9BAC-4B8E-A9AC-3321E55F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1E8E7-4F4E-4F59-8DDE-9B6AD25E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0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3D83F-649A-4574-A104-8E0DEF89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67250"/>
            <a:ext cx="1809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DDE6F3"/>
                </a:solidFill>
                <a:latin typeface="Arial"/>
                <a:ea typeface="Arial"/>
                <a:cs typeface="Arial"/>
              </a:rPr>
              <a:t>идеи в матрице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BBA75-6D83-4BC3-89A3-B14FAB43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38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2A5C2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92A5C2"/>
                </a:solidFill>
                <a:latin typeface="Arial"/>
                <a:ea typeface="Arial"/>
                <a:cs typeface="Arial"/>
              </a:rPr>
              <a:t>выбран самый монетизируемый фокус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59720-74AB-4074-8DAB-8B2C27DA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2435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472E9-FE95-4C9D-A9F1-99160DF8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0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B2B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BF425-B4D5-47C5-97B6-BE7E4B7C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67250"/>
            <a:ext cx="1809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DDE6F3"/>
                </a:solidFill>
                <a:latin typeface="Arial"/>
                <a:ea typeface="Arial"/>
                <a:cs typeface="Arial"/>
              </a:rPr>
              <a:t>главный payer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0BA63-5DED-4FC5-B0DB-73EBACF1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38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2A5C2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92A5C2"/>
                </a:solidFill>
                <a:latin typeface="Arial"/>
                <a:ea typeface="Arial"/>
                <a:cs typeface="Arial"/>
              </a:rPr>
              <a:t>аптеки платят за экономию и продажи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5D8E5-8ADC-42A3-A1A1-C8FCDA58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42950"/>
            <a:ext cx="28575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154"/>
          </a:solidFill>
          <a:ln xmlns:a="http://schemas.openxmlformats.org/drawingml/2006/main" w="9525">
            <a:solidFill>
              <a:srgbClr val="3345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EA5AFA-01C1-41C3-99AA-A4EFC9EE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477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3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36A"/>
                </a:solidFill>
                <a:latin typeface="Arial"/>
                <a:ea typeface="Arial"/>
                <a:cs typeface="Arial"/>
              </a:rPr>
              <a:t>Финальный вывод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56773-7055-4734-ADB4-A2A80688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66850"/>
            <a:ext cx="2266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SmartKit стоит запускать как бесплатный B2C-помощник и платный B2B SaaS для аптек.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C2BE5-4FC5-4CFB-B1F6-AB5E21F6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95D14-BEF3-497D-9169-54A91A0E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67050"/>
            <a:ext cx="201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B2C создаёт привычку, данные о потребности и момент повторной покупки.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E12715-CA1E-4E86-BFF2-325DE19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9D7E3C-2E61-455D-9D4C-083F93E7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3380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B2B платит за контроль склада, сроков, продаж и потерь.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8666BF-AEDE-4E50-994A-7145257A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E4D11-8DB6-4B7E-946B-C6B11087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Marketplace и комиссии добавляются после пилота с аптеками.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0F8E1-FB63-45C6-AFD7-F9F6FACB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062988-A09F-4789-BE04-C3F50A8E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DE2382-B25C-4D2F-80B4-C7E24CE8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Исходник: practice1.pptx · заполнено для проекта SmartKit</a:t>
            </a:r>
          </a:p>
        </p:txBody>
      </p:sp>
    </p:spTree>
    <p:extLst>
      <p:ext uri="{BB962C8B-B14F-4D97-AF65-F5344CB8AC3E}">
        <p14:creationId xmlns:p14="http://schemas.microsoft.com/office/powerpoint/2010/main" val="1001545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8F307C-63EA-4350-836D-A5DEA644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156CC-349E-4D40-8AF1-6187FF67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92EE5-6D75-4B31-BB28-D653B96F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Этап 1 · Боли дня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17CE9-9C82-44F6-B572-1A7F1DDA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Практика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488FD-B14B-47C0-A3D8-E51D7447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Проблема болезненна там, где лекарства становятся ежедневной операцией.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C640F-0615-4F01-B8FB-9668D726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81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Разогрев показал две группы боли: личный контроль приёма и бизнес-контроль товарных остатков.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108FD-4D8F-4C43-A598-36C6D148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65722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1706D-65DC-45BF-ADFA-4D1C8B62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10 найденных болей недели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270CC-B138-4530-9B11-F53A33D7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0B700-906C-4DF2-BB57-733956FB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Забываю принять лекарство вовремя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25E62-3590-4E51-84EC-218F70D9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81275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BB1A7-94AF-4EBF-A609-732BFCEF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81275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65C2F-D6A9-42B4-81C5-61349A6F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24125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64362-7941-44A7-A3D2-05778C2E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DB24B-8A96-4BD7-AB4E-08378B1E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Не понимаю, сколько таблеток осталось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30485-4BBE-46DC-A410-2CF598EF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7655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8B96D-60AE-4880-91E5-B52A2A48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7655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91761-8FBA-4403-9017-8F88D7C5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0DA95-91F7-43C9-B70B-9CE89DCB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8BCC2-E3B3-4E84-8710-EC2C6A84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3372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Срок годности вспоминают слишком поздно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6A452-230D-4EAE-B35C-4FA39119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71825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F6605-2100-433E-9411-ACAA5215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71825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97683-94BF-4F79-9F44-F1AC7932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14675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BD6B24-3D9C-4F63-A960-2E8E60C6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45283-E632-4CB9-B5A0-AB778112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Семье сложно следить за лекарствами пожилых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9FB700-CA6B-404C-8FD4-4534DA43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671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50AF8A-19C2-40AF-874F-4BAE729C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67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F164B-E358-4642-BFCC-EBBD8A19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99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C0B395-0554-48B9-9E3F-2C64A8A1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CEBA8C-55FD-4A74-B6F0-200C5076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2427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В аптеке товар есть в учёте, но не на полке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ED2BED-2F2E-4240-A7DA-F6ED771A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62375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88CF9F-C4FB-47B5-AED4-3F9BAC31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62375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83FCE2-2581-4A70-BBB1-E23AECDC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05225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ACD622-596A-4E8D-B9F9-141BE71C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9D16A5-6183-434D-8B22-3468E62B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Просрочка обнаруживается уже при списании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5B48EC-3255-48BC-9ECA-0C3F0ED3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5765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F73D8E-55F6-4E20-93E3-8E1F8D48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57650"/>
            <a:ext cx="1028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5BA885-CD17-4FF0-A71B-CD2C8304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005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CEE2B3-D8BD-4309-8929-9A92F98D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F54F07-7DB1-41CD-8729-42C8F633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1482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Нет быстрого отчёта: что продаётся и что зависло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BFEDCD-E97D-484D-85AF-C6C22051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52925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A252AD-2527-4CE9-BCB9-A9D6C58B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52925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B6F7D4-F659-4622-B52A-ED9A119C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95775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476928-648B-4261-9E98-C4D25E82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B07A89-17BD-49CF-9495-9E760798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Добавление товара вручную занимает много времени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560DBB-E9B5-4CC4-97EA-40C9F608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482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E9A983-D6C2-4327-AD25-4D103149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482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131494-069B-48C4-97B2-AB8C1B7A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00546E-F509-46E4-B2AB-84EC0936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0A02EC-82F8-4592-AFA6-6F5A96DA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0537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Покупатель уходит, если лекарства нет сейчас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5AB971-4EAE-4534-9D3A-CE3E1510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43475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C07D53-15B1-4062-8FC9-3810D01E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43475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CA70D9-EDB6-4D2B-B2E9-666252EC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86325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1BDF77-62BD-4529-89A6-4DF10827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8275C5-AB93-4FEF-B4FB-9F77C9DD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Склад и филиалы живут в разных таблицах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4AFD9B-F346-458D-94B6-EA06FFF9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3875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D70C6A-DC52-423C-A713-E8D97BB4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3875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A5E1CE-9857-4CA9-9FC3-C97C451A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816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A039E9-E4BB-4807-9FB8-5D4A99F3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24050"/>
            <a:ext cx="37147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3CA825-ACDC-411E-B29C-1E0645C0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Что это значит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057C6AE-3AFE-4875-AA10-A679360A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D27947-2F45-4EDF-83E4-2F5EDBA5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2686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B2C-боль частая, но не всегда платёжная: пользователь хочет бесплатно и удобно.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416C7F7-87B6-468A-9490-2F1BAB00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C4EFDB-29DF-4E82-A9CD-D13C606A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2686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B2B-боль финансовая: просрочка, stockout и ручной учёт превращаются в прямые потери.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8D537B-FD63-4C84-A7F5-7C4C6ECA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A3F20FF-AC95-4A73-9B34-FB56B53F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2686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Значит, продукт должен быть бесплатным для массового входа и платным для аптек.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BEAC84-2CF2-42DD-90E6-033C763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10150"/>
            <a:ext cx="287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36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36A"/>
                </a:solidFill>
                <a:latin typeface="Arial"/>
                <a:ea typeface="Arial"/>
                <a:cs typeface="Arial"/>
              </a:rPr>
              <a:t>Топ-сегмент для проверки: небольшая аптека или склад, где учёт уже есть, но он фрагментирован.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90C7358-26B4-4612-AF81-A47E718C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92BE4D8-BD9A-4730-81D7-786D8C81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0341AC-4098-4EEF-BBAB-C525857B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SmartKit · completed Practice 1</a:t>
            </a:r>
          </a:p>
        </p:txBody>
      </p:sp>
    </p:spTree>
    <p:extLst>
      <p:ext uri="{BB962C8B-B14F-4D97-AF65-F5344CB8AC3E}">
        <p14:creationId xmlns:p14="http://schemas.microsoft.com/office/powerpoint/2010/main" val="11101796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81484C-2384-4F0A-9B34-7A59E447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AE550-2FAB-473A-A467-C3B34806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AB28A-072D-4B96-8EAD-47E3F6EB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Этап 1 · Выбор болей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6FFAE-EB65-486D-954F-B7B2C960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Практика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C4C22-8AA3-4795-B025-D208C439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В работу берём не самую красивую идею, а проблему с частотой, деньгами и понятным владельцем.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DB611-32B3-41F2-AC7D-BE083890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81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После голосования топ-3 боли превращаются в один рабочий opportunity statement.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3A221-CC52-411F-9A30-9C3AF1B8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981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19050">
            <a:solidFill>
              <a:srgbClr val="F05A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BC791-2794-4E1D-A56D-B70984E2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704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49EC5-83FA-44D9-912D-E56B6CD3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0E211-DE68-493C-A74A-D19B9F36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33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Аптека теряет деньги из-за просрочки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C7B76-3959-4640-8519-DEB0DEE0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003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Высокая боль: товар уже куплен, но становится списанием.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44673-CD74-432D-A9F3-BF98548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981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E1F85-5ADE-4EED-9AF3-D691F636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704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CA3AA-9C3D-45C4-8244-6A2D0956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527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05781-7ED9-432A-9448-6DF50064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242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Нет прозрачности остатков по точкам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51C18-EC8F-4AFE-B4F0-4D5736C9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909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Частая операционная боль: менеджер не видит, где товар реально лежит.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178B6-CC27-4656-920E-29819D4B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981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4B0F9-AE5A-40C5-ACCB-7344C84D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704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4A3366-1DC3-47FC-A3FD-355A334B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FABB7-8C4F-4E54-AC1C-4E974983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148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Покупка вспоминается слишком поздно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65726-3FBB-4C25-A86E-65F79FB8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815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Хороший B2C-момент: когда лекарство заканчивается, возникает заказ.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1B946-7E20-41B9-B476-DDD5F298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62550"/>
            <a:ext cx="7829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7ED1B-CBDA-49CE-8BD6-A9EF7997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1495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B36A"/>
                </a:solidFill>
                <a:latin typeface="Arial"/>
                <a:ea typeface="Arial"/>
                <a:cs typeface="Arial"/>
              </a:rPr>
              <a:t>Рабочая гипотеза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A8BB0F-1307-4156-9650-492E2A0C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543550"/>
            <a:ext cx="701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SmartKit связывает момент “лекарство заканчивается” с аптечным B2B-кабинетом, который управляет остатками, сроками и продажами.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CBB944-B0AB-4153-AB07-B51AC23E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0BB96A-1A85-4351-91EF-607AEC5B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773C4A-4BC5-44B1-82CB-78F37496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SmartKit · completed Practice 1</a:t>
            </a:r>
          </a:p>
        </p:txBody>
      </p:sp>
    </p:spTree>
    <p:extLst>
      <p:ext uri="{BB962C8B-B14F-4D97-AF65-F5344CB8AC3E}">
        <p14:creationId xmlns:p14="http://schemas.microsoft.com/office/powerpoint/2010/main" val="12087352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4225CE-9097-49EF-AC9B-4C2A2F42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70695-0EC8-4063-96E1-E4F8D1B2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D3BA8-ED71-44AF-A7A0-742101FA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Этап 2 · SCAMPER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CAF12-4A1E-49C0-BC64-5A5C1BE5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Практика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14F68-19A0-44C7-B4CB-41010926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SCAMPER расширяет SmartKit из напоминалки в операционную систему лекарств.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4C14B-2659-48C3-BF20-83780209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81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Берём выбранную боль: люди и аптеки теряют контроль над лекарствами, остатками и сроками.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7E9F6-F12D-48F2-9823-2D6BF79A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504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C328B-203D-4E2C-B698-013CED51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552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59BB2-011D-4445-B6B9-8A7C9F82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5265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B6ECF-136D-4B3E-84D0-5870D25A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76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Substitute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A1B3C-ED0B-4E3D-9AFB-9965257E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86000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Заменить ручные таблицы и бумажные списки единым live-кабинетом.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0FA28-808F-43CC-A5CC-86616EF7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04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457D0-FC6A-4092-854F-B8F8838D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52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82836-A5F7-4ABC-97C5-CA9A8D22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5265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C0A93-0552-40CE-B5AD-30DE0C22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76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Combine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32A33-8F89-4C1A-8EC8-DC7F0DC5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86000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Объединить домашнюю аптечку, аптечный склад, продажи и повторную покупку.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D31F5-C895-4131-BFAF-3F14F46E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504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027AD-8FEA-4BD3-83CC-A759CED2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552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3BC29-A34F-4B9C-934F-7FBE1D30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9408D5-5F92-4012-A6D0-9AAD9410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71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Adapt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840AEE-25E8-41F3-BD24-78E53A4C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81350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Взять логику CRM/POS: статусы, pipeline, alerts, роли сотрудников.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F35074-B4E9-4478-9FF4-63D583BC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504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A1F4CD-F187-4B94-A586-BD7D406C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552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829B1-0CDF-47EE-B112-2F19B674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480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75A80-0393-4A79-B547-1BE917B7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71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Modify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F060C9-B3FE-4A03-B96D-82FC55EA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81350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Сделать добавление товара быстрее через OCR, barcode и шаблоны партий.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FAE256-9D28-4D2F-927F-60BE1298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4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D89F07-3983-4CEA-8170-6CD42F9E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52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0BAC8A-7B3F-44FC-9B07-3CD7B990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E82FEB-6582-4AD9-A836-22CD932D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67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Put to other use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17C34D-E810-42BA-98BF-B6BB20B7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6700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Использовать остатки пользователя как сигнал спроса для аптек.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057FB8-6C16-4FC6-97A7-45022657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504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1EFA59-F0F6-47EE-AD01-6E01D0B5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552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155A24-531D-450D-BE4A-8D87938C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4335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706F24-F13A-41F9-8C24-60456C32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67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Eliminate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610AB3-9DEA-445F-A0B5-F6431769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76700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Убрать слепые зоны: неизвестный срок, неизвестный остаток, неизвестная точка хранения.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7BA41F-581F-4354-AA28-7C2C844A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57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5A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4B19A6-F7CC-49D6-B160-575EBB11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552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46DA62-0B4B-4143-AD55-6CC63DF4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387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3315FC-DFF1-41EB-B78C-4DAB5681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Reverse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B38190-9261-43FB-8D2F-E6743B7A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72050"/>
            <a:ext cx="963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Не пользователь ищет аптеку; SmartKit заранее предлагает пополнить запас.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D02EE4-3F18-46E4-82D9-BC974CBC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B97C1A-D514-432C-91E1-D4774A32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3271F4-F529-4171-9076-177E2167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SmartKit · completed Practice 1</a:t>
            </a:r>
          </a:p>
        </p:txBody>
      </p:sp>
    </p:spTree>
    <p:extLst>
      <p:ext uri="{BB962C8B-B14F-4D97-AF65-F5344CB8AC3E}">
        <p14:creationId xmlns:p14="http://schemas.microsoft.com/office/powerpoint/2010/main" val="11675132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51CAE9-877A-4169-9A15-5523D6E6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702E7-91AC-47D2-8EC0-050704C7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35D91-9789-4FC1-8540-E3869A87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Этап 2 · Синтез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88F1D-77AF-40F8-BA7E-B6425C8D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Практика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7CB31-0639-4638-BEC2-66EB3779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Из SCAMPER получается не одна функция, а связка продуктов с разными плательщиками.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BC91F-C874-4854-B33D-C83DA6FD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81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Сильная идея: бесплатная B2C-утилита создаёт спрос, платный B2B-кабинет забирает основную выручку.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94D26-589D-4B7A-88D2-D634D415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5A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9A169-044D-4790-A093-4E7358B9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EB98E-D2F5-4327-A892-C38EA81A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B2C free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D0675-CAA7-45D4-8ED5-C2333946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1924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Напоминания, остатки, сроки, семья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3F2E7-EFC7-4ECE-8DBD-C9F4B546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908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5D5A7-DCD5-40C6-925B-F7BA086D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445C7-A1CE-47CB-AE69-9532B8C7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24E3B-77A5-4AF6-BE24-028A8674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146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Refill trigger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3AB8A-FB8D-4A0A-9736-73690002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28950"/>
            <a:ext cx="1924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Когда запас заканчивается, возникает заказ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AD6CA-6636-4EC2-AB60-864B905B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908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278B0-89DE-4BF5-9BC1-59104A38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331F7-ACF5-475B-93CD-9EF36200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F1460-1061-4987-9862-260F071B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Pharmacy cockpit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D7111-6803-4A8C-AC3B-CE072A1B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924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Склад, сроки, продажи, локации, OCR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795AD-78D5-446F-AA58-98544DE1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862E0-4939-4AE8-A2CB-690AF967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19050">
            <a:solidFill>
              <a:srgbClr val="1723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F6074-808B-4787-97A4-474A3C40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2EA30E-447A-4C63-925D-A3BACE03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146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Paid business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954B4E-CBE2-4AF6-A551-A2E226B9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924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Подписка аптек + лиды + комиссия позже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C0565-9960-4AE4-AF79-766C782E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577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05A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A6A09C-A1C1-474B-B5C6-4D5C7749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86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Концепт после брейнсторма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115DD7-AC9F-404B-AD27-7BA4144D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33950"/>
            <a:ext cx="773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SmartKit — это мост между пациентом, который должен вовремя принять и докупить лекарство, и аптекой, которая должна знать остатки, сроки и спрос.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4ABED7-6B42-4B23-826F-F1ABE335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18F4F0-0401-4061-8627-EA7E6CC8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4FD6BF-22D8-49BE-8978-6D149807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SmartKit · completed Practice 1</a:t>
            </a:r>
          </a:p>
        </p:txBody>
      </p:sp>
    </p:spTree>
    <p:extLst>
      <p:ext uri="{BB962C8B-B14F-4D97-AF65-F5344CB8AC3E}">
        <p14:creationId xmlns:p14="http://schemas.microsoft.com/office/powerpoint/2010/main" val="14317014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2465ED-74E1-4E1F-9CED-E538AA15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DC101-DE2F-422A-83AD-61B29184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94BC0-B604-4E6B-AD8E-463F1997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Этап 3 · JTBD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61EAD-827B-468E-B90B-6FD1F60C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Практика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B4129-D3F8-4B27-8148-BC5457F7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Главный покупатель — аптека, потому что её проблема выражается в деньгах.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E1D98-83BA-4F0F-B5BF-0E685DC3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81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Заполненный JTBD-шаблон для B2B-сегмента SmartKit.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AAAF3-215D-415B-A557-3C945AC2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C6324-23EC-4F32-8177-9DF86B98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Пользователь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B7D8A-47FC-49FA-8B0B-4AC0F22C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3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Марина, 34 года, управляет небольшой аптекой в Алматы, 2 продавца, склад ведут в Excel.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C53B2-3191-482E-949C-3431F2CB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D8055-1D59-4E33-8D06-78BD598C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Ситуация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2EBF5-115F-45D5-B8CE-0B463276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3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Каждую неделю нужно понять: что заканчивается, что скоро просрочится, где товар лежит и что продавалось.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8B182-A7C6-4DD3-91BF-D89844A8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0819B-806D-43E8-8D0D-FFF82DDA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Желаемый результат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1E1EC-777E-4008-A963-4727EB77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052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3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Сократить списания, не терять продажи из-за дефицита и быстро готовить отчёт по остаткам.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179FE-BD97-4F4F-B39F-0438FF91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A950E-0F8B-4C1D-B6F2-46680B28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Текущее решение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C24BE7-951F-458E-97F2-2068A7A8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100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3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Excel, кассовая выгрузка, ручная проверка полок, сообщения в WhatsApp между сотрудниками.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73D22-763F-432C-9CC3-7C38207E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9525">
            <a:solidFill>
              <a:srgbClr val="1723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64A92-F658-4548-931A-E25B7A73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36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36A"/>
                </a:solidFill>
                <a:latin typeface="Arial"/>
                <a:ea typeface="Arial"/>
                <a:cs typeface="Arial"/>
              </a:rPr>
              <a:t>Почему SmartKit лучше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A1DF3-9944-4DBA-9674-CE7124B5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149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кабинет показывает склад, продажи, сроки, локации, OCR-добавление товара и AI-подсказки по рискам.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D5ABE-A782-42AB-B649-DE27A17F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A1F64F-C1AB-4347-911A-FBF544E6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2C5147-8D96-4FFD-8088-C3956555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SmartKit · completed Practice 1</a:t>
            </a:r>
          </a:p>
        </p:txBody>
      </p:sp>
    </p:spTree>
    <p:extLst>
      <p:ext uri="{BB962C8B-B14F-4D97-AF65-F5344CB8AC3E}">
        <p14:creationId xmlns:p14="http://schemas.microsoft.com/office/powerpoint/2010/main" val="10476391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A69917-685D-428E-AC01-03324551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0140A-0C56-48C0-97D9-822F9287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48B42-D7D3-4CA9-9518-DB76C518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Этап 3 · Второй JTBD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809EF-531C-4068-B63F-0DB20C45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Практика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BCA8C-4BFF-47EF-A18A-8D0D3C77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B2C-пользователь важен, но он скорее источник спроса, чем основной плательщик.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3EFF1-CC5D-478B-9C44-290E1EC1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81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Если люди не готовы платить за функции, приложение должно оставаться полезным бесплатно и монетизироваться через аптечный слой.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A8582-43CF-453A-B25C-760E1C01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4333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0358F-60C9-4C22-AF04-291A9D82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Персона B2C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D14DD-A315-4F18-8CE0-CAC7EB69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Динара, 29 лет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27119-BACC-43D7-84E4-399F600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4EFCC-520D-4608-BCE0-31D0CEF9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3257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Следит за лекарствами мамы и ребёнка.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08F97-612D-45B6-B51E-7B13D1D7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61703-7755-4689-A47B-4BF2AC39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3257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Хочет не забывать приём и заранее докупать нужное.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229A0-B782-4913-BF06-76BBA7C8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714D4-0C03-4578-9190-8EF6BC50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3257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Платить за функции не хочет, но готова покупать лекарство удобно.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56EED-6C2F-49F0-B136-198752ED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62150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67125-71A7-41E1-9A72-E1991437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36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36A"/>
                </a:solidFill>
                <a:latin typeface="Arial"/>
                <a:ea typeface="Arial"/>
                <a:cs typeface="Arial"/>
              </a:rPr>
              <a:t>JTBD-формула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7F4AE-3914-4964-AFFF-88865547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447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Когда лекарство заканчивается, я хочу получить понятное напоминание и быстрый путь к покупке, чтобы не держать всё в голове.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B41CF-B409-432D-A9E7-1A646B58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57650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Вывод: бесплатный B2C нужен как канал доверия, retention и повторных заказов. Деньги лучше брать с аптек, которым этот спрос приносит продажи.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54AA2F-8FBF-411E-B3A7-383B8965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71B304-4FCC-43E0-A5B6-F6AB5550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F3F86-EA0E-4AF0-BA41-0A6EE66F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SmartKit · completed Practice 1</a:t>
            </a:r>
          </a:p>
        </p:txBody>
      </p:sp>
    </p:spTree>
    <p:extLst>
      <p:ext uri="{BB962C8B-B14F-4D97-AF65-F5344CB8AC3E}">
        <p14:creationId xmlns:p14="http://schemas.microsoft.com/office/powerpoint/2010/main" val="20103414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AA80AF-7A86-4E00-86BB-B9C2332F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ACDD3-8AF0-4187-800F-7CE5D422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40E5A-4887-4B2F-B5CE-2CF3647D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Этап 4 · Матрица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7E581-DE6E-4D52-97D6-BD83A75F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Практика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F05E6-4549-491A-9192-992FD35B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Фильтрация выбирает B2B pharmacy SaaS как рабочую гипотезу.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641FD-775F-4806-A9EF-0F3E19AF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81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Оценка 0-2 по критериям из задания; веса: боль ×2, аудитория ×2, монетизация ×2.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1AA3A-94CF-4CA9-BBED-EDCD14A3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944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ED997-D71A-4B05-9601-8FB846AC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8597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Критерий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04F5F-154F-4170-A87A-00109993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85975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Вес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B57A7-8E70-4E89-AF9D-E99D39A5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8597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B2C Premium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7AFD0-520E-4C32-97C1-351B2E9D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8597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B2B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08C6D-3C95-43DE-A884-CBAAD34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8597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Marketplace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C6977-67B3-4A76-B613-1E3E2868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944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409B6-C9A0-4F4E-B17F-DAF4FBB7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Острота проблемы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A3C25-9449-4F70-A7D3-9B0D967F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955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×2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C5D72-D442-42DA-9FF6-798C11CF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955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1/2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1C708-3E84-4135-A51B-A7CB8D52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955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13D8F-01DA-4506-AD18-A5BFB767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F4FEC-3DD1-407D-8079-E17E1D76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944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DD9941-9C00-4E21-8ADC-9831D777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Размер аудитории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4B9E3-D6CD-40EE-B225-6C05A602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527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×2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6CA92-AEBB-4F4F-9C13-CB974B0F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527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B89FC-F831-4E48-8084-704C22AF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527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E19B6-DAAB-4B2F-AF77-DE7CCD7C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527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F66F69-2739-4125-A9DF-9A571B0F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944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6E274D-22B0-470B-A75A-7D5F2FB6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Экспертиза команды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6305F-6097-46D8-A0A5-19618016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099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×1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F980D8-D59E-408F-AFAA-F6906A7D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099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AACF1-F982-4542-B686-C0E75978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99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29D5D7-2406-4186-B69F-EF9449DE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99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1/2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7DB148-8291-42E4-92CB-C4988F2E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944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3721AD-DA2B-4695-98DF-A54A361D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Конкуренция / окно рынка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D2FAED-6106-4EA7-BF65-AEB97D46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671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×1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525724-B13C-4CBC-9486-FBBC2F74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671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1/2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32B745-F057-4E69-A10A-B828E1AA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671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1/2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FB28BD-D98D-4048-8C9A-528BC599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671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1/2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3E4BF7-6962-44E1-8781-7FE3CE12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944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7556F1-3C0C-4922-9C83-F7BCBCBD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Монетизация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78B821-B6CB-4464-99C2-10497501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243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×2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576540-AE4E-462E-A985-E53ECA8C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243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1/2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95D860-0363-4A50-BFD1-64B31ECC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243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B8249E-5146-43BA-8730-A44DC2DC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243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2BB404-3420-455E-9F56-066DE2D2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944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5B91C6-F868-4BBD-A41E-2ABC8B4D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ИТОГО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8A758A-AC5E-4354-A455-3739643B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815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020B18-6FBC-4E80-8454-C324D760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815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10/16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1D640F-82C3-4F4F-98BF-66947751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291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C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858D53-2B43-4062-9220-E7808FDD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815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15/16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5C591D-FCB7-4B64-960B-47169652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815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14/16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EC58D7-823E-4851-81D6-14F5DA94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28800"/>
            <a:ext cx="11430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020707-E630-4968-8430-ECF5AA4E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B3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B36A"/>
                </a:solidFill>
                <a:latin typeface="Arial"/>
                <a:ea typeface="Arial"/>
                <a:cs typeface="Arial"/>
              </a:rPr>
              <a:t>Победитель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F0768B-6EFB-4E1C-AADD-24976CC1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B2B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SaaS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042A8F-2691-4B5F-9A17-0175CFA2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86150"/>
            <a:ext cx="85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Даёт деньги быстрее, чем B2C-подписка, и проще стартует, чем marketplace.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86276A-F69B-467D-BB08-83A3AB40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7FA00A-9AB9-47D4-BDE5-C7E9D8E3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FE4BCF3-345B-45FF-BE70-69A7AFD5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SmartKit · completed Practice 1</a:t>
            </a:r>
          </a:p>
        </p:txBody>
      </p:sp>
    </p:spTree>
    <p:extLst>
      <p:ext uri="{BB962C8B-B14F-4D97-AF65-F5344CB8AC3E}">
        <p14:creationId xmlns:p14="http://schemas.microsoft.com/office/powerpoint/2010/main" val="9603558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3B02F2-B228-4224-A807-99BE6E9B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28A60-0C19-4C42-8C1D-E920DB40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F88DD-E7B1-498C-B8D0-9FF9799E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Этап 4 · Выбор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EA82E-2A05-478B-8B47-CFC5028D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Практика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0F27B-808D-4525-80CC-3AFBF20F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Выбранная идея сильнее, потому что у неё есть измеримый ROI и конкретный покупатель.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36637-C5FE-4BF2-A164-D9E95368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81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B2B SaaS можно продавать без огромной аудитории: 20-30 аптек уже дают ощутимую MRR.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FF61E-2E37-4754-A577-B91C12C8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953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385BA-A818-4673-82CA-02A890E5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Почему B2B SaaS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C885A-6190-43D3-9909-5DD04579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Боль выражена в деньгах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E9C14-8655-4AB1-AA7B-325B315B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90825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BEAE5-64B8-4FE5-B66B-96F25F61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90825"/>
            <a:ext cx="1371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16026-7874-4AED-9AE3-6238EA0F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49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9/10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39B00-B8EA-418C-9ACF-C622A06F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718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Проблема повторяется ежедневно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B29A7-32AA-417C-AD9F-9BC63806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004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82D7D-26E2-42A8-80BD-90804BD3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00400"/>
            <a:ext cx="1371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6829F-7A37-48E7-B210-955178FA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52775"/>
            <a:ext cx="49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9/10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F1EBC-3DF2-4EB4-8C6B-1742F466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Покупатель понятен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97909-FFD4-4A0D-8D3E-C5C6C47A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09975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599DE-19CE-498E-A55C-77E8099D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09975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EA19D-D40E-49A4-9DD0-599ED3C3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49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8/10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6E666-2F45-4C2D-8B98-C8A5F194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909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MVP можно проверить вручную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3244F7-DE93-4D5B-AC90-A5483EC6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1955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99EF91-D4B0-47A7-B36C-C26EB8F9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19550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A49C1-4919-445D-AFFB-C824FDA9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71925"/>
            <a:ext cx="49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8/10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753D0A-D5C5-42C0-84A5-B79A85A7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Масштаб через филиалы и marketplace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CD047C-0286-4D5A-B7E0-EFBD8452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29125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9D0A4-96BC-41F6-A85F-4F42E2C0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29125"/>
            <a:ext cx="1066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8B5418-B623-4DA1-B68D-BFE55D6F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49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7/10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AE9D63-1347-41B3-97F7-222841BD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4476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9525">
            <a:solidFill>
              <a:srgbClr val="E7DE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DF1955-0397-4AED-A74B-1BE69045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669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36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36A"/>
                </a:solidFill>
                <a:latin typeface="Arial"/>
                <a:ea typeface="Arial"/>
                <a:cs typeface="Arial"/>
              </a:rPr>
              <a:t>Рабочая идея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FAAD29-1C64-469B-A15E-A29698A8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SmartKit Business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1932E-D0B0-4E1A-9FF1-3A8A2340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0400"/>
            <a:ext cx="3600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Мобильный кабинет для аптек: остатки, сроки, продажи, локации, OCR и предупреждения. B2C-приложение остаётся бесплатным и приводит повторные покупки.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74B3D3-48DC-41C5-8AB8-BE491E58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38650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3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36A"/>
                </a:solidFill>
                <a:latin typeface="Arial"/>
                <a:ea typeface="Arial"/>
                <a:cs typeface="Arial"/>
              </a:rPr>
              <a:t>Монетизация: 14 900–69 900 ₸/мес с аптеки + комиссии с заказов после запуска каталога.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86B224-8027-4E9F-BB24-4ADDDBBE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500DC4-CE14-4416-8262-171AD906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198377-DC6B-4ECE-B2F3-C5361908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SmartKit · completed Practice 1</a:t>
            </a:r>
          </a:p>
        </p:txBody>
      </p:sp>
    </p:spTree>
    <p:extLst>
      <p:ext uri="{BB962C8B-B14F-4D97-AF65-F5344CB8AC3E}">
        <p14:creationId xmlns:p14="http://schemas.microsoft.com/office/powerpoint/2010/main" val="20570609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D8BA49-D153-4295-94D9-13B57ACC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8F233-B0B2-40B3-8798-88D18582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2D741-CD8B-44DD-AA90-8A23BC0E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Этап 5 ·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84C1F-656C-4E79-95FA-2B6A82B1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Практика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246E9-FF60-468F-918C-09B6FEC4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Финальный pitch: SmartKit превращает хаос лекарств в управляемый поток.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9A4BB-A9E4-4B28-8A08-D69B3FED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81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Шаблон из задания заполнен под выбранную идею.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08469-BCF6-4A74-82C7-7867122C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096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9525">
            <a:solidFill>
              <a:srgbClr val="1723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26476-414A-4244-8FC0-870B0BCE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193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Мы помогаем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65AEF-5998-4361-8893-2206BEF0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9"/>
          </a:solidFill>
          <a:ln xmlns:a="http://schemas.openxmlformats.org/drawingml/2006/main" w="9525">
            <a:solidFill>
              <a:srgbClr val="4B5F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85BD7-F0F0-4107-96C6-B829ED32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28850"/>
            <a:ext cx="714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небольшим аптекам, аптечным складам и семьям, которые регулярно управляют лекарствами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62D92-0BEA-4BB7-92C8-50E8A34B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670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которые хотят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34D15-DE26-4DF1-A348-B58C481E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622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9"/>
          </a:solidFill>
          <a:ln xmlns:a="http://schemas.openxmlformats.org/drawingml/2006/main" w="9525">
            <a:solidFill>
              <a:srgbClr val="4B5F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00ECC-725A-4C73-9146-C450F5C8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76550"/>
            <a:ext cx="714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терять деньги на просрочке, не забывать приём и вовремя пополнять запасы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AE744-3E33-4399-9BAC-E3AC37BF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147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с помощью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83246-9A3E-4588-AD5D-F5F956DA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099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9"/>
          </a:solidFill>
          <a:ln xmlns:a="http://schemas.openxmlformats.org/drawingml/2006/main" w="9525">
            <a:solidFill>
              <a:srgbClr val="4B5F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38D88-1489-4A01-89C8-9169D1F3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24250"/>
            <a:ext cx="714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приложения и B2B-кабинета: напоминания, сроки, остатки, продажи, локации, OCR и AI-подсказки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FFCBB-70B7-43D5-964A-013D1E1D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624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В отличие от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AAE70-D572-4C58-B023-CAB655A6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576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9"/>
          </a:solidFill>
          <a:ln xmlns:a="http://schemas.openxmlformats.org/drawingml/2006/main" w="9525">
            <a:solidFill>
              <a:srgbClr val="4B5F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874DF-7E3E-4BE4-B1C3-7B6208AD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71950"/>
            <a:ext cx="714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Excel, бумажных списков, разрозненных кассовых отчётов и обычных reminder-приложений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8DB6E-D426-479E-95DC-F39501E2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01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мы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B1520-30D2-4C1F-81D2-9CB08A22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053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59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8CBCA-4DD0-4F87-A27B-981A749F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19650"/>
            <a:ext cx="714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F7E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DF7EC"/>
                </a:solidFill>
                <a:latin typeface="Arial"/>
                <a:ea typeface="Arial"/>
                <a:cs typeface="Arial"/>
              </a:rPr>
              <a:t>связываем пациента и аптеку в один цикл: потребность → остаток → заказ → продажа → аналитика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0EEF01-E52C-461D-8A00-87A67740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B36A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B36A"/>
                </a:solidFill>
                <a:latin typeface="Arial"/>
                <a:ea typeface="Arial"/>
                <a:cs typeface="Arial"/>
              </a:rPr>
              <a:t>2-минутная версия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AE717-052C-4DCC-B7D7-9BAD5D37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62550"/>
            <a:ext cx="752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FFB36A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B36A"/>
                </a:solidFill>
                <a:latin typeface="Arial"/>
                <a:ea typeface="Arial"/>
                <a:cs typeface="Arial"/>
              </a:rPr>
              <a:t>SmartKit — бесплатный помощник для людей и платная система для аптек, которая помогает не терять лекарства, деньги и клиентов.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BAC6D6-8853-45E8-8A39-169556D9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1C5D8-19DA-45FF-8484-550A165F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9415D-5A67-401B-801C-4856B864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SmartKit · completed Practice 1</a:t>
            </a:r>
          </a:p>
        </p:txBody>
      </p:sp>
    </p:spTree>
    <p:extLst>
      <p:ext uri="{BB962C8B-B14F-4D97-AF65-F5344CB8AC3E}">
        <p14:creationId xmlns:p14="http://schemas.microsoft.com/office/powerpoint/2010/main" val="19211188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6F3C20-396E-4F8B-9C38-908BE183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10544-D86E-4032-80DA-CC6D94D4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517B6-A77C-4D83-8042-0726D773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Монетизация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94A62-262B-4553-AB6F-ABD22569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Практика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5C6DC-EB16-41FA-8156-59482514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Если люди не платят за функции, платит бизнес, который получает продажи и экономию.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2533E-B144-42BD-9EB4-0767BEFA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81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Free B2C остаётся каналом доверия; B2B-подписка и будущие заказы становятся денежным ядром.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8F7EF-50BB-4B3F-9845-0C9CFC99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24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5A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D47E4-A3EF-4721-A6FB-89F104E3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24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B3D98-BD38-4D8C-B673-0E99AADD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Free B2C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3F521-4F61-47D6-9301-F7A3771F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0 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81943-42D4-4FC2-BA40-0D233C0F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лекарства, напоминания, сроки, остатки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C8CA2-4B9F-48E9-A5BF-8E21804A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2324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4AF8F-1EF4-4E76-BC9C-C2918105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2324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B2811-C07D-4204-9139-1292D109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Starter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D1560-A663-4FF6-A969-23AB7570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14 900 ₸/мес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D9A05-6997-4EB5-ABED-416537E4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5755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1 точка, склад, сроки, базовые отчёты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673CA-9E92-4096-964F-8DA1D93A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2324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45C3E-E9A4-4F76-AD4F-FF953EAF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2324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15C72-AE04-47B8-8325-4C467A50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223B"/>
                </a:solidFill>
                <a:latin typeface="Georgia"/>
                <a:ea typeface="Georgia"/>
                <a:cs typeface="Georgia"/>
              </a:rPr>
              <a:t>Business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1664A-6683-4569-8B43-04299613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29 900 ₸/мес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C7D39-5AD0-4A3D-9286-258BF6A5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продажи, локации, OCR, сотрудники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22778-162B-495B-B2C2-A6C737AB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324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19050">
            <a:solidFill>
              <a:srgbClr val="1723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3E0733-08C7-4140-9306-4883696C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324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F4A3AE-BAEA-4F4C-B840-05179683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05DFF7-65A0-43C6-99FF-B01F5338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B36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36A"/>
                </a:solidFill>
                <a:latin typeface="Arial"/>
                <a:ea typeface="Arial"/>
                <a:cs typeface="Arial"/>
              </a:rPr>
              <a:t>69 900 ₸/мес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2F0814-CFBB-454F-8F4F-E3F7F31D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5755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филиалы, AI-прогнозы, расширенный экспорт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CE5A4-8E34-4D30-8601-646F891D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838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05A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035E1A-B8FB-4BD6-B17E-6952B8AD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Дальше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EFC8CF-F329-43D2-9CE8-2CAB35BA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29150"/>
            <a:ext cx="676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Когда появятся аптеки и пользователи, SmartKit добавляет лиды/заказы: аптека платит 3–8% комиссии или 300–700 ₸ за подтверждённую заявку.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CD460D-2714-4D78-B56D-1F10E51E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311C13-B576-4ADD-B8F0-0061934A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A2B78D-7FB7-4902-A78A-0A75B3C2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SmartKit · completed Practice 1</a:t>
            </a:r>
          </a:p>
        </p:txBody>
      </p:sp>
    </p:spTree>
    <p:extLst>
      <p:ext uri="{BB962C8B-B14F-4D97-AF65-F5344CB8AC3E}">
        <p14:creationId xmlns:p14="http://schemas.microsoft.com/office/powerpoint/2010/main" val="13393327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99D823-0A97-47EE-96B5-926130FA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FA5CC-AABB-4EB2-97A6-FE71405D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07803-86A8-4CDF-A71C-CA334550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Следующий шаг — доказать willingness to pay, а не просто интерес.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7F8B5-4392-4CFD-B2F4-68B934C5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36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36A"/>
                </a:solidFill>
                <a:latin typeface="Arial"/>
                <a:ea typeface="Arial"/>
                <a:cs typeface="Arial"/>
              </a:rPr>
              <a:t>План проверки на 14 дней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F827F-D14F-45F3-B8DF-44912DEB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3431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154"/>
          </a:solidFill>
          <a:ln xmlns:a="http://schemas.openxmlformats.org/drawingml/2006/main" w="9525">
            <a:solidFill>
              <a:srgbClr val="3345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1C7E4-FCAA-4655-8330-DFD7EFB7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36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B36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AD833-8E6C-494C-91FD-F6A13773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10 интервью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CC2CC-41ED-4481-BAC8-DD85CB80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885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Поговорить с владельцами аптек и сотрудниками склада. Узнать текущие потери, Excel-процессы и частоту просрочки.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B40C2-13B1-4016-9D1C-0BDD6011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23431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154"/>
          </a:solidFill>
          <a:ln xmlns:a="http://schemas.openxmlformats.org/drawingml/2006/main" w="9525">
            <a:solidFill>
              <a:srgbClr val="3345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72E21-E90F-42D8-B609-5AD82F98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36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B36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2E9B3-39C3-4E1B-8F8C-A02CBBA7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05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 демо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768F7-5D34-4B43-AF36-650D823F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62350"/>
            <a:ext cx="1885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Показать B2B dashboard: остатки, сроки, продажи, локации, OCR. Не объяснять долго — дать попробовать.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CFDD1-F8A0-4113-B590-F6361621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3431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154"/>
          </a:solidFill>
          <a:ln xmlns:a="http://schemas.openxmlformats.org/drawingml/2006/main" w="9525">
            <a:solidFill>
              <a:srgbClr val="3345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D5235-EFEE-4D00-8661-909A694D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36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B36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AE1E2-83FF-4517-BD4E-C9B71D96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 пилота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CB2470-37E0-43FF-8287-4BCDA151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1885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Загрузить реальные товары через CSV/OCR и смотреть, пользуются ли экраном каждый день.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B5CD6-D56D-4491-B857-F3E3AA6C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3431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154"/>
          </a:solidFill>
          <a:ln xmlns:a="http://schemas.openxmlformats.org/drawingml/2006/main" w="9525">
            <a:solidFill>
              <a:srgbClr val="3345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30950-5DA8-44C4-8CEC-8A09827B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479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36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B36A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33FB6-C8D8-49D7-B580-5C986AEF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 оплата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54ADFD-9BB1-4C79-953B-7CE5F4B9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62350"/>
            <a:ext cx="1885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DDE6F3"/>
                </a:solidFill>
                <a:latin typeface="Arial"/>
                <a:ea typeface="Arial"/>
                <a:cs typeface="Arial"/>
              </a:rPr>
              <a:t>После пилота попросить оплатить Starter или Business. Это главный критерий успеха.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09E91B-8B2E-473A-ACEC-C6C62428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014BE-7EA0-41DA-90BF-DCC4C89C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Финальная рекомендация: защищать SmartKit как B2B2C-модель — бесплатная польза для людей, платная операционная ценность для аптек.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7C4E5B-212A-4BEE-8282-4F119594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FC2DC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FC2DC"/>
                </a:solidFill>
                <a:latin typeface="Arial"/>
                <a:ea typeface="Arial"/>
                <a:cs typeface="Arial"/>
              </a:rPr>
              <a:t>Метрики: D7 retention B2C · active pharmacy days/week · added products · found expiry risk · demo-to-paid conversion · MRR.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558598-632D-4C94-90AB-2CC75E9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82CC3-4E18-4513-AF6D-ED922E00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5A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05A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FB1B2-60EA-4D26-84D0-663D89BF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Защита: 2 минуты pitch + 1 минута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1426862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2026-05-18T06:25:33.0690000Z</dcterms:created>
  <dcterms:modified xsi:type="dcterms:W3CDTF">2026-05-18T06:25:33.0690000Z</dcterms:modified>
</coreProperties>
</file>